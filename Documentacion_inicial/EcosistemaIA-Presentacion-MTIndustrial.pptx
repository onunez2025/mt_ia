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ECOSISTEMAIA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Conversacional de Datos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macro — arquitectura, gobierno de datos, OPEX, CAPEX y ROI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886200"/>
            <a:ext cx="2926080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Industrial · Área de TI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por: Oscar Núñez   ·   Para: Manuel Calderón (Jefe de TI)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4800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ahora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reunión de dirección del 13 de agosto se definieron cuatro pilares estratégicos. Este proyecto ataca directamente el primero: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22860">
            <a:solidFill>
              <a:srgbClr val="E887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23160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Dispersa y dependiente de personas — sin automatización, se detiene si falta alguien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8006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FOCO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0" y="214884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7DB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2423160"/>
            <a:ext cx="502920" cy="502920"/>
          </a:xfrm>
          <a:prstGeom prst="ellipse">
            <a:avLst/>
          </a:prstGeom>
          <a:solidFill>
            <a:srgbClr val="E7EAEC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3063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del cliente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703320" y="36118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de contacto debe funcionar, del interés a la garantía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14884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22860">
            <a:solidFill>
              <a:srgbClr val="E8871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2423160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9400" y="3063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no lineal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29400" y="36118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headcount no debe crecer al mismo ritmo que las ventas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48006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FOCO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326880" y="214884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7DB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55480" y="2423160"/>
            <a:ext cx="502920" cy="502920"/>
          </a:xfrm>
          <a:prstGeom prst="ellipse">
            <a:avLst/>
          </a:prstGeom>
          <a:solidFill>
            <a:srgbClr val="E7EAEC"/>
          </a:solidFill>
          <a:ln/>
        </p:spPr>
      </p:sp>
      <p:sp>
        <p:nvSpPr>
          <p:cNvPr id="24" name="Text 22"/>
          <p:cNvSpPr/>
          <p:nvPr/>
        </p:nvSpPr>
        <p:spPr>
          <a:xfrm>
            <a:off x="955548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55480" y="3063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555480" y="36118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Obsolescencia y rotación deben monitorearse activamente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EcosistemaIA · MT Industrial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asistente que responde con datos reales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chatbot genérico. </a:t>
            </a:r>
            <a:pPr indent="0" marL="0">
              <a:buNone/>
            </a:pPr>
            <a:r>
              <a:rPr lang="en-US" sz="145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capa de IA conectada directamente a los sistemas existentes de MT Industrial, que traduce una pregunta en lenguaje natural en la consulta correcta, la ejecuta, y responde citando la fuente del dato.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329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"¿Cuánto vendimos del producto X el mes pasado?"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72968" y="356616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29000" y="27432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329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11880" y="37947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orquestador entiende la intención y valida el rol del usuario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53328" y="356616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27432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329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92240" y="37947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el dato real del Corporate RAG — SQL, C4C, FSM, RRHH según permiso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933688" y="356616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89720" y="27432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329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7260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72600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72600" y="37947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natural, citando de dónde salió el dato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EcosistemaIA · MT Industrial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por capas</a:t>
            </a:r>
            <a:endParaRPr lang="en-US" sz="2700" dirty="0"/>
          </a:p>
        </p:txBody>
      </p:sp>
      <p:pic>
        <p:nvPicPr>
          <p:cNvPr id="4" name="Image 0" descr="arquitectura_hi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234440"/>
            <a:ext cx="5500991" cy="5349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EcosistemaIA · MT Industrial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7 gerencias usarán la herramienta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 de entrada no es "de quién es el área" — es la sensibilidad del dato. Por eso varias gerencias entran a la vez desde la Fase 0.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6120" y="1965960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históricas, proyecciones, descuentos, forecast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9921240" y="20848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4CAF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21240" y="20848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569464"/>
            <a:ext cx="11064240" cy="530352"/>
          </a:xfrm>
          <a:prstGeom prst="rect">
            <a:avLst/>
          </a:prstGeom>
          <a:solidFill>
            <a:srgbClr val="EFF1F2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6946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Institucional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2569464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Cotizaciones, conversión de leads, forecast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9921240" y="2688336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4CAF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21240" y="268833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172968"/>
            <a:ext cx="11064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17296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Metusa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3172968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Ventas, trade marketing, producto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9921240" y="329184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4CAF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21240" y="32918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776472"/>
            <a:ext cx="11064240" cy="530352"/>
          </a:xfrm>
          <a:prstGeom prst="rect">
            <a:avLst/>
          </a:prstGeom>
          <a:solidFill>
            <a:srgbClr val="EFF1F2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77647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al Cliente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46120" y="3776472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FSM, NPS, contact center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9921240" y="3895344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4CAF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1240" y="389534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379976"/>
            <a:ext cx="11064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37997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y Producto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46120" y="4379976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NPS, e-commerce, CRM, competencia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9921240" y="4498848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E887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21240" y="449884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F0→F1.5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4983480"/>
            <a:ext cx="11064240" cy="530352"/>
          </a:xfrm>
          <a:prstGeom prst="rect">
            <a:avLst/>
          </a:prstGeom>
          <a:solidFill>
            <a:srgbClr val="EFF1F2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98348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y Calidad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46120" y="4983480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Calidad, certificaciones, obsolescencia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9921240" y="510235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21240" y="510235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F0-F1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5586984"/>
            <a:ext cx="11064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58698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Finanzas y Ops.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46120" y="5586984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Suministro (F0) · Finanzas (F1) · RRHH/Legal (F2)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9921240" y="5705856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956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21240" y="570585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Repartida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EcosistemaIA · MT Industrial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todas las preguntas son del mismo tipo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7DB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83080"/>
            <a:ext cx="146304" cy="146304"/>
          </a:xfrm>
          <a:prstGeom prst="ellipse">
            <a:avLst/>
          </a:prstGeom>
          <a:solidFill>
            <a:srgbClr val="4CAF7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91640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directa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286000"/>
            <a:ext cx="22951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Inventario, NPS, ventas históricas. Bajo riesgo, valor inmediato.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3977640"/>
            <a:ext cx="2295144" cy="0"/>
          </a:xfrm>
          <a:prstGeom prst="line">
            <a:avLst/>
          </a:prstGeom>
          <a:noFill/>
          <a:ln w="9525">
            <a:solidFill>
              <a:srgbClr val="D7DB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4114800"/>
            <a:ext cx="22951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"¿Cuánto vendimos del producto X?"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0" y="155448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7DB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75888" y="178308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1691640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75888" y="2286000"/>
            <a:ext cx="22951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calcula una estimación — debe mostrarse siempre como tal, no como dato oficial.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75888" y="3977640"/>
            <a:ext cx="2295144" cy="0"/>
          </a:xfrm>
          <a:prstGeom prst="line">
            <a:avLst/>
          </a:prstGeom>
          <a:noFill/>
          <a:ln w="9525">
            <a:solidFill>
              <a:srgbClr val="D7DB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4114800"/>
            <a:ext cx="22951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ventas y compras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0" y="155448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7DB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01968" y="1783080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691640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externa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01968" y="2286000"/>
            <a:ext cx="22951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sale de las bases internas. Calidad variable según lo publicado.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01968" y="3977640"/>
            <a:ext cx="2295144" cy="0"/>
          </a:xfrm>
          <a:prstGeom prst="line">
            <a:avLst/>
          </a:prstGeom>
          <a:noFill/>
          <a:ln w="9525">
            <a:solidFill>
              <a:srgbClr val="D7DB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4114800"/>
            <a:ext cx="22951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competencia, noticias de mercado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326880" y="155448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7DB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28048" y="1783080"/>
            <a:ext cx="146304" cy="146304"/>
          </a:xfrm>
          <a:prstGeom prst="ellipse">
            <a:avLst/>
          </a:prstGeom>
          <a:solidFill>
            <a:srgbClr val="4FB0A5"/>
          </a:solidFill>
          <a:ln/>
        </p:spPr>
      </p:sp>
      <p:sp>
        <p:nvSpPr>
          <p:cNvPr id="24" name="Text 22"/>
          <p:cNvSpPr/>
          <p:nvPr/>
        </p:nvSpPr>
        <p:spPr>
          <a:xfrm>
            <a:off x="9784080" y="1691640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documentos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528048" y="2286000"/>
            <a:ext cx="22951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/ Excel / diagramas construidos a partir de lo anterior.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28048" y="3977640"/>
            <a:ext cx="2295144" cy="0"/>
          </a:xfrm>
          <a:prstGeom prst="line">
            <a:avLst/>
          </a:prstGeom>
          <a:noFill/>
          <a:ln w="9525">
            <a:solidFill>
              <a:srgbClr val="D7DB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28048" y="4114800"/>
            <a:ext cx="22951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transversal — Fase 1.5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EcosistemaIA · MT Industrial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por sensibilidad del dato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10515600" cy="0"/>
          </a:xfrm>
          <a:prstGeom prst="line">
            <a:avLst/>
          </a:prstGeom>
          <a:noFill/>
          <a:ln w="25400">
            <a:solidFill>
              <a:srgbClr val="3A3F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46504" y="2478024"/>
            <a:ext cx="256032" cy="256032"/>
          </a:xfrm>
          <a:prstGeom prst="ellipse">
            <a:avLst/>
          </a:prstGeom>
          <a:solidFill>
            <a:srgbClr val="4CAF7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3291840"/>
            <a:ext cx="1883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AE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Ventas, inventario, NPS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849624" y="2478024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Ampliación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35808" y="3291840"/>
            <a:ext cx="1883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AE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técnico, Finanzas, proyecciones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952744" y="2478024"/>
            <a:ext cx="256032" cy="25603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1.5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+ externa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138928" y="3291840"/>
            <a:ext cx="1883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AE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PPT/Excel, informe de competencia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8055864" y="2478024"/>
            <a:ext cx="256032" cy="256032"/>
          </a:xfrm>
          <a:prstGeom prst="ellipse">
            <a:avLst/>
          </a:prstGeom>
          <a:solidFill>
            <a:srgbClr val="4FB0A5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1.75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242048" y="3291840"/>
            <a:ext cx="1883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AE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y manuales, abierto a todos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10158984" y="2478024"/>
            <a:ext cx="256032" cy="256032"/>
          </a:xfrm>
          <a:prstGeom prst="ellipse">
            <a:avLst/>
          </a:prstGeom>
          <a:solidFill>
            <a:srgbClr val="D9564A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3544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 y Legal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45168" y="3291840"/>
            <a:ext cx="1883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AE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validación legal previa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822960" y="4846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recomienda habilitar RRHH en el piloto: es la parte de mayor riesgo reputacional y legal. Se demuestra valor primero con datos de negocio.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EcosistemaIA · MT Industrial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puede preguntarle qué a la 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conectar la IA a cualquier base, TI preparó un primer borrador que cruza cada tipo de dato contra cada nivel de puesto. Es un borrador interno — RRHH y Legal deben validarlo antes de la Fase 2.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505456"/>
            <a:ext cx="128016" cy="128016"/>
          </a:xfrm>
          <a:prstGeom prst="ellipse">
            <a:avLst/>
          </a:prstGeom>
          <a:solidFill>
            <a:srgbClr val="4CAF7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/ Comercial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46320" y="2286000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Jefe: Área · Finanzas: Total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128016" cy="128016"/>
          </a:xfrm>
          <a:prstGeom prst="ellipse">
            <a:avLst/>
          </a:prstGeom>
          <a:solidFill>
            <a:srgbClr val="D956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44368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 — sueldos y bonos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46320" y="2944368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propio y RRHH — ni el jefe directo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22192"/>
            <a:ext cx="128016" cy="128016"/>
          </a:xfrm>
          <a:prstGeom prst="ellipse">
            <a:avLst/>
          </a:prstGeom>
          <a:solidFill>
            <a:srgbClr val="D956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02736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 — permisos, vacaciones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0" y="3602736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ve datos agregados de su equipo, no individuales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128016" cy="128016"/>
          </a:xfrm>
          <a:prstGeom prst="ellipse">
            <a:avLst/>
          </a:prstGeom>
          <a:solidFill>
            <a:srgbClr val="D9564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61104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— contratos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0" y="4261104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Cerrado a todos salvo Legal y, según tipo, Finanzas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138928"/>
            <a:ext cx="128016" cy="128016"/>
          </a:xfrm>
          <a:prstGeom prst="ellipse">
            <a:avLst/>
          </a:prstGeom>
          <a:solidFill>
            <a:srgbClr val="2F485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19472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— administración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46320" y="4919472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 el sistema, no accede al contenido de RRHH/Legal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EcosistemaIA · MT Industrial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— inversión inicial (única vez)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(Fase 0 — piloto)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052560" y="1600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1064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5740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orquestador + integración SQL central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052560" y="205740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_______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11064240" cy="512064"/>
          </a:xfrm>
          <a:prstGeom prst="rect">
            <a:avLst/>
          </a:prstGeom>
          <a:solidFill>
            <a:srgbClr val="EFF1F2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243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SAP C4C / SAP FSM (vía API)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052560" y="2624328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_______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191256"/>
            <a:ext cx="11064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9125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capa de permisos por rol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052560" y="3191256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_______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11064240" cy="512064"/>
          </a:xfrm>
          <a:prstGeom prst="rect">
            <a:avLst/>
          </a:prstGeom>
          <a:solidFill>
            <a:srgbClr val="EFF1F2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5818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QA y ajuste de prompts/precisión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052560" y="375818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_______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325112"/>
            <a:ext cx="11064240" cy="502920"/>
          </a:xfrm>
          <a:prstGeom prst="rect">
            <a:avLst/>
          </a:prstGeom>
          <a:solidFill>
            <a:srgbClr val="E7EAEC"/>
          </a:solidFill>
          <a:ln w="12700">
            <a:solidFill>
              <a:srgbClr val="171B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3251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CAPEX Fase 0 (piloto)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052560" y="43251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_______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01091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reutiliza la base SQL central que ya integra C4C, FSM y Qualtrics (construida en Servicio Técnico), el CAPEX de integración baja considerablemente frente a construir desde cero.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EcosistemaIA · MT Industrial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RECURRENTE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— consumo de tokens por tipo de consulta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no es plano: depende de cuántas llamadas hace el orquestador y qué tan compleja es la pregunta.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7780">
            <a:solidFill>
              <a:srgbClr val="4CAF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084832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2395728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directa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78892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"Ventas del mes pasado de un producto"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3383280"/>
            <a:ext cx="3163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0.016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9202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778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2084832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98848" y="2395728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 + externa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98848" y="278892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"Ventas + con qué compite"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98848" y="3383280"/>
            <a:ext cx="3163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0.028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7780">
            <a:solidFill>
              <a:srgbClr val="E887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2084832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47888" y="2395728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completo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47888" y="278892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+ mercado + recomendaciones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47888" y="3383280"/>
            <a:ext cx="3163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0.117 – 0.154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 muestra dos arquitecturas: orquestador único (S/0.154) vs. multiagente especializado (S/0.117) — ~24% más barato en tokens, a cambio de mayor CAPEX de desarrollo.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329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 mensual del piloto (mezcla realista de consultas)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5303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US$ 150 – 350  ≈  S/ 505 – 1,180 / mes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5760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[Cifra a validar con datos reales de la Fase 0]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EcosistemaIA · MT Industrial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proveedores de 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26080" y="1691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0" y="1691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/ MTok (ent./sal.)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321040" y="1691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11064240" cy="731520"/>
          </a:xfrm>
          <a:prstGeom prst="rect">
            <a:avLst/>
          </a:prstGeom>
          <a:solidFill>
            <a:srgbClr val="EAF3EE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48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(Claude)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2926080" y="2148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5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4754880" y="21488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 / $10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6858000" y="21488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EE.UU.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8321040" y="21488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en uso; function calling maduro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2926080" y="29260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GPT-5.6 Terra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475488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 / $12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685800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EE.UU.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8321040" y="29260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integración con Microsoft/Azure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11064240" cy="731520"/>
          </a:xfrm>
          <a:prstGeom prst="rect">
            <a:avLst/>
          </a:prstGeom>
          <a:solidFill>
            <a:srgbClr val="FBEEEC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03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2926080" y="37033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Pro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4754880" y="37033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$0.435 / $0.87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6858000" y="37033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8321040" y="37033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económico — revisar con Legal antes de datos sensibles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548640" y="4480560"/>
            <a:ext cx="11064240" cy="731520"/>
          </a:xfrm>
          <a:prstGeom prst="rect">
            <a:avLst/>
          </a:prstGeom>
          <a:solidFill>
            <a:srgbClr val="FBEEEC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480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(Alibaba)</a:t>
            </a:r>
            <a:endParaRPr lang="en-US" sz="970" dirty="0"/>
          </a:p>
        </p:txBody>
      </p:sp>
      <p:sp>
        <p:nvSpPr>
          <p:cNvPr id="30" name="Text 28"/>
          <p:cNvSpPr/>
          <p:nvPr/>
        </p:nvSpPr>
        <p:spPr>
          <a:xfrm>
            <a:off x="2926080" y="44805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Qwen3.5 Plus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4754880" y="4480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$0.40 / $2.40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6858000" y="44805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970" dirty="0"/>
          </a:p>
        </p:txBody>
      </p:sp>
      <p:sp>
        <p:nvSpPr>
          <p:cNvPr id="33" name="Text 31"/>
          <p:cNvSpPr/>
          <p:nvPr/>
        </p:nvSpPr>
        <p:spPr>
          <a:xfrm>
            <a:off x="8321040" y="44805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Económico — misma consideración de residencia de datos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de costo entre proveedores es de centavos al mes en este volumen — no es el criterio decisivo. Lo decisivo es la residencia de datos para RRHH, Legal y Finanzas.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EcosistemaIA · MT Industrial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/ Payback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criterio exigido en la reunión de dirección: payback = costo ÷ ahorro mensual.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6400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Horas/mes en reportes manuales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2103120"/>
            <a:ext cx="3657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horas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624328"/>
            <a:ext cx="10149840" cy="0"/>
          </a:xfrm>
          <a:prstGeom prst="line">
            <a:avLst/>
          </a:prstGeom>
          <a:noFill/>
          <a:ln w="9525">
            <a:solidFill>
              <a:srgbClr val="3A3F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70048"/>
            <a:ext cx="6400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hora promedio del personal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2670048"/>
            <a:ext cx="3657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_______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191256"/>
            <a:ext cx="10149840" cy="0"/>
          </a:xfrm>
          <a:prstGeom prst="line">
            <a:avLst/>
          </a:prstGeom>
          <a:noFill/>
          <a:ln w="9525">
            <a:solidFill>
              <a:srgbClr val="3A3F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36976"/>
            <a:ext cx="6400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mensual estimado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3236976"/>
            <a:ext cx="3657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_______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758184"/>
            <a:ext cx="10149840" cy="0"/>
          </a:xfrm>
          <a:prstGeom prst="line">
            <a:avLst/>
          </a:prstGeom>
          <a:noFill/>
          <a:ln w="9525">
            <a:solidFill>
              <a:srgbClr val="3A3F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03904"/>
            <a:ext cx="6400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Fase 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0" y="3803904"/>
            <a:ext cx="3657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_______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325112"/>
            <a:ext cx="10149840" cy="0"/>
          </a:xfrm>
          <a:prstGeom prst="line">
            <a:avLst/>
          </a:prstGeom>
          <a:noFill/>
          <a:ln w="9525">
            <a:solidFill>
              <a:srgbClr val="3A3F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599432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E8871E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7365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estimado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99262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meses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EcosistemaIA · MT Industrial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necesita para avanzar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171B2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70992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del alcance de la Fase 0 (piloto en Ventas/Inventario) — no RRHH todavía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171B2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5786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dueños de datos por área — ya identificados en la matriz de acceso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171B2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preliminar aprobado para CAPEX de la Fase 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171B2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31596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 TI a las APIs de C4C y FSM para la integración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502920" cy="502920"/>
          </a:xfrm>
          <a:prstGeom prst="ellipse">
            <a:avLst/>
          </a:prstGeom>
          <a:solidFill>
            <a:srgbClr val="171B2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518464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kickoff del piloto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EcosistemaIA · MT Industrial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ECOSISTEMAIA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Industrial · Área de TI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EcosistemaIA · MT Industrial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2026-08-14T21:11:22Z</dcterms:created>
  <dcterms:modified xsi:type="dcterms:W3CDTF">2026-08-14T21:11:22Z</dcterms:modified>
</cp:coreProperties>
</file>